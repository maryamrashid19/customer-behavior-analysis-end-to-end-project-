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Bold"/>
      <p:regular r:id="rId17"/>
    </p:embeddedFont>
    <p:embeddedFont>
      <p:font typeface="Inter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slideLayout" Target="../slideLayouts/slideLayout6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1591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14489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data analytics project — Python · PostgreSQL · Power BI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by: Data Analytics Team |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46671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At-a-Glance Metrics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2002259"/>
            <a:ext cx="1479724" cy="826368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640" y="2148780"/>
            <a:ext cx="1186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2640" y="2455292"/>
            <a:ext cx="1186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3,900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117601" y="2002259"/>
            <a:ext cx="1479724" cy="826368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64122" y="2148780"/>
            <a:ext cx="1186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Columns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264122" y="2455292"/>
            <a:ext cx="1186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739083" y="2002259"/>
            <a:ext cx="1479724" cy="826368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85605" y="2148780"/>
            <a:ext cx="1186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SQL Queries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885605" y="2455292"/>
            <a:ext cx="1186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96119" y="2970386"/>
            <a:ext cx="4722688" cy="826368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2640" y="311690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2640" y="3423419"/>
            <a:ext cx="442964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(Power BI)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324273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Problem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979861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customer shopping behavior to improve sales, satisfaction, and loyalty. Management observed shifts across demographics, categories, and channels and asked: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137720" y="2979241"/>
            <a:ext cx="451016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"How can the company leverage consumer shopping data to identify trends, improve customer engagement, and optimize marketing and product strategies?"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925119" y="2819772"/>
            <a:ext cx="19050" cy="999381"/>
          </a:xfrm>
          <a:prstGeom prst="rect">
            <a:avLst/>
          </a:prstGeom>
          <a:solidFill>
            <a:srgbClr val="4950BC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1848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Overview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54981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workflow: data prep &amp; modeling in Python, SQL analysis in PostgreSQL, interactive Power BI dashboard, and a reproducible GitHub repository containing scripts and queries.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789783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Preparation &amp; Modeling (Python)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Analysis (SQL)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Visualization &amp; Insights (Power BI)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&amp; Presentation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repository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9701" y="2185169"/>
            <a:ext cx="142875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22920"/>
            <a:ext cx="3824139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 Summary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496119" y="1350838"/>
            <a:ext cx="1944439" cy="1050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Transactional and behavioral data for 3,900 customers; 18 columns; each row = one customer's most recent purchase interaction.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96119" y="2516312"/>
            <a:ext cx="1944439" cy="193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values: 37 (review_rating) — median imputed by product category</a:t>
            </a:r>
            <a:endParaRPr lang="en-US" sz="105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Redundancy removed: dropped promo_code_used (duplicate of discount_applied)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73933" y="1379637"/>
            <a:ext cx="336649" cy="33664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0498" y="1379637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Demographics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3270498" y="1717923"/>
            <a:ext cx="1953071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Age, Gender, Location, Subscription Status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73933" y="2393900"/>
            <a:ext cx="336649" cy="33664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270498" y="2393900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Purchase Details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3270498" y="2732187"/>
            <a:ext cx="1953071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Item, Category, Amount, Season, Size, Color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73933" y="3408164"/>
            <a:ext cx="336649" cy="33664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270498" y="3408164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Behavior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3270498" y="3746450"/>
            <a:ext cx="1953071" cy="630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Discounts, Previous Purchases, Frequency, Rating, Shipping, Payment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30647"/>
            <a:ext cx="4722763" cy="797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Exploratory Data Analysis (Python)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3925119" y="1500262"/>
            <a:ext cx="4722763" cy="581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Performed in Jupyter with pandas: data loading (pd.read_csv), df.info(), df.describe(), column standardization to snake_case, feature engineering, and database integration via SQLAlchemy.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3925119" y="2211214"/>
            <a:ext cx="255166" cy="1594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925119" y="2413695"/>
            <a:ext cx="2303934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7" name="Text 4"/>
          <p:cNvSpPr/>
          <p:nvPr/>
        </p:nvSpPr>
        <p:spPr>
          <a:xfrm>
            <a:off x="3925119" y="2506042"/>
            <a:ext cx="1932236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Missing Value Treatment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925119" y="2774156"/>
            <a:ext cx="2303934" cy="581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 null review_ratings imputed using category-wise median to preserve distribution.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343873" y="2211214"/>
            <a:ext cx="255166" cy="1594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343873" y="2413695"/>
            <a:ext cx="2304008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1" name="Text 8"/>
          <p:cNvSpPr/>
          <p:nvPr/>
        </p:nvSpPr>
        <p:spPr>
          <a:xfrm>
            <a:off x="6343873" y="2506042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343873" y="2774156"/>
            <a:ext cx="2304008" cy="581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age_group (qcut) and purchase_frequency_days (numeric mapping of textual labels).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925119" y="3566368"/>
            <a:ext cx="255166" cy="1594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925119" y="3768849"/>
            <a:ext cx="4722763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5" name="Text 12"/>
          <p:cNvSpPr/>
          <p:nvPr/>
        </p:nvSpPr>
        <p:spPr>
          <a:xfrm>
            <a:off x="3925119" y="3861197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Redundancy &amp; Load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925119" y="4129311"/>
            <a:ext cx="4722763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Dropped promo_code_used; loaded cleaned table into PostgreSQL database customer_behavior.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58441"/>
            <a:ext cx="816285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Analysis (SQL) — Ten Business Queries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41574"/>
            <a:ext cx="26282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Executed 10 structured queries using CTEs, CASE, window functions, and aggregates to answer core business questions.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676376"/>
            <a:ext cx="2628230" cy="1559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by Gender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High-spend discount users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products by rating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Shipping vs. purchase behavior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 &amp; repeat buyer analysis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988" y="2185169"/>
            <a:ext cx="142875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50665"/>
            <a:ext cx="456403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Findings (Selected)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877169"/>
            <a:ext cx="419100" cy="419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2398" y="1877169"/>
            <a:ext cx="130872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Top-rated Products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92398" y="2405137"/>
            <a:ext cx="130872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Gloves, Sandals, Boots, Hat, Skirt ranked highest by rating.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1877169"/>
            <a:ext cx="419100" cy="419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74578" y="1877169"/>
            <a:ext cx="130879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Shipping Impact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174578" y="2405137"/>
            <a:ext cx="130879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Express-shipping customers show higher average purchase amounts.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1877169"/>
            <a:ext cx="419100" cy="4191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56833" y="1877169"/>
            <a:ext cx="130879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by Age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256833" y="2405137"/>
            <a:ext cx="130879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Young Adults drive the highest total revenue.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1877169"/>
            <a:ext cx="419100" cy="4191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39087" y="1877169"/>
            <a:ext cx="130879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Subscription vs. Revenue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339087" y="2405137"/>
            <a:ext cx="1308795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spend similar for subscribers and non-subscribers; non-subscribers drive more revenue overall.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6628"/>
            <a:ext cx="437785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Dashboard — Power BI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79761"/>
            <a:ext cx="432777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interactive Power BI dashboard was built on PostgreSQL to enable stakeholder exploration with dynamic slicers and KPI cards.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587749"/>
            <a:ext cx="4327773" cy="1509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 Cards: Number of Customers, Avg Purchase Amount, Avg Review Rating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Donut: Subscription distribution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Clustered Columns/Bars: Revenue &amp; Sales by Category and Age Group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Slicers: Subscription, Gender, Category, Shipping Type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4531" y="2185169"/>
            <a:ext cx="142875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81323"/>
            <a:ext cx="4935438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Recommendations &amp; Conclusion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96119" y="1343844"/>
            <a:ext cx="1923380" cy="1346076"/>
          </a:xfrm>
          <a:prstGeom prst="roundRect">
            <a:avLst>
              <a:gd name="adj" fmla="val 5095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6119" y="1329556"/>
            <a:ext cx="1923380" cy="57150"/>
          </a:xfrm>
          <a:prstGeom prst="roundRect">
            <a:avLst>
              <a:gd name="adj" fmla="val 83349"/>
            </a:avLst>
          </a:prstGeom>
          <a:solidFill>
            <a:srgbClr val="4950BC"/>
          </a:solidFill>
          <a:ln/>
        </p:spPr>
      </p:sp>
      <p:sp>
        <p:nvSpPr>
          <p:cNvPr id="5" name="Shape 3"/>
          <p:cNvSpPr/>
          <p:nvPr/>
        </p:nvSpPr>
        <p:spPr>
          <a:xfrm>
            <a:off x="1287661" y="1173733"/>
            <a:ext cx="340221" cy="340221"/>
          </a:xfrm>
          <a:prstGeom prst="roundRect">
            <a:avLst>
              <a:gd name="adj" fmla="val 167979"/>
            </a:avLst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1389757" y="1258788"/>
            <a:ext cx="136029" cy="1701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3813" y="1627361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Boost Subscriptions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3813" y="1895252"/>
            <a:ext cx="1667991" cy="489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Promote exclusive benefits to convert the large non-subscribed base.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10210" y="1343844"/>
            <a:ext cx="1923455" cy="1346076"/>
          </a:xfrm>
          <a:prstGeom prst="roundRect">
            <a:avLst>
              <a:gd name="adj" fmla="val 5095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210" y="1329556"/>
            <a:ext cx="1923455" cy="57150"/>
          </a:xfrm>
          <a:prstGeom prst="roundRect">
            <a:avLst>
              <a:gd name="adj" fmla="val 83349"/>
            </a:avLst>
          </a:prstGeom>
          <a:solidFill>
            <a:srgbClr val="4950BC"/>
          </a:solidFill>
          <a:ln/>
        </p:spPr>
      </p:sp>
      <p:sp>
        <p:nvSpPr>
          <p:cNvPr id="11" name="Shape 9"/>
          <p:cNvSpPr/>
          <p:nvPr/>
        </p:nvSpPr>
        <p:spPr>
          <a:xfrm>
            <a:off x="3301826" y="1173733"/>
            <a:ext cx="340221" cy="340221"/>
          </a:xfrm>
          <a:prstGeom prst="roundRect">
            <a:avLst>
              <a:gd name="adj" fmla="val 167979"/>
            </a:avLst>
          </a:prstGeom>
          <a:solidFill>
            <a:srgbClr val="4950BC"/>
          </a:solidFill>
          <a:ln/>
        </p:spPr>
      </p:sp>
      <p:sp>
        <p:nvSpPr>
          <p:cNvPr id="12" name="Text 10"/>
          <p:cNvSpPr/>
          <p:nvPr/>
        </p:nvSpPr>
        <p:spPr>
          <a:xfrm>
            <a:off x="3403922" y="1258788"/>
            <a:ext cx="136029" cy="1701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37904" y="1627361"/>
            <a:ext cx="1668066" cy="35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Loyalty Programs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37904" y="2072432"/>
            <a:ext cx="1668066" cy="489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Reward repeat buyers to advance them into Loyal segments.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6119" y="2950741"/>
            <a:ext cx="1923380" cy="1509340"/>
          </a:xfrm>
          <a:prstGeom prst="roundRect">
            <a:avLst>
              <a:gd name="adj" fmla="val 4544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6119" y="2936453"/>
            <a:ext cx="1923380" cy="57150"/>
          </a:xfrm>
          <a:prstGeom prst="roundRect">
            <a:avLst>
              <a:gd name="adj" fmla="val 83349"/>
            </a:avLst>
          </a:prstGeom>
          <a:solidFill>
            <a:srgbClr val="4950BC"/>
          </a:solidFill>
          <a:ln/>
        </p:spPr>
      </p:sp>
      <p:sp>
        <p:nvSpPr>
          <p:cNvPr id="17" name="Shape 15"/>
          <p:cNvSpPr/>
          <p:nvPr/>
        </p:nvSpPr>
        <p:spPr>
          <a:xfrm>
            <a:off x="1287661" y="2780630"/>
            <a:ext cx="340221" cy="340221"/>
          </a:xfrm>
          <a:prstGeom prst="roundRect">
            <a:avLst>
              <a:gd name="adj" fmla="val 167979"/>
            </a:avLst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1389757" y="2865686"/>
            <a:ext cx="136029" cy="1701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3813" y="3234258"/>
            <a:ext cx="160563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Review Discount Policy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3813" y="3502149"/>
            <a:ext cx="1667991" cy="489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discount-driven sales with margin control for discount-dependent products.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10210" y="2950741"/>
            <a:ext cx="1923455" cy="1509340"/>
          </a:xfrm>
          <a:prstGeom prst="roundRect">
            <a:avLst>
              <a:gd name="adj" fmla="val 4544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10210" y="2936453"/>
            <a:ext cx="1923455" cy="57150"/>
          </a:xfrm>
          <a:prstGeom prst="roundRect">
            <a:avLst>
              <a:gd name="adj" fmla="val 83349"/>
            </a:avLst>
          </a:prstGeom>
          <a:solidFill>
            <a:srgbClr val="4950BC"/>
          </a:solidFill>
          <a:ln/>
        </p:spPr>
      </p:sp>
      <p:sp>
        <p:nvSpPr>
          <p:cNvPr id="23" name="Shape 21"/>
          <p:cNvSpPr/>
          <p:nvPr/>
        </p:nvSpPr>
        <p:spPr>
          <a:xfrm>
            <a:off x="3301826" y="2780630"/>
            <a:ext cx="340221" cy="340221"/>
          </a:xfrm>
          <a:prstGeom prst="roundRect">
            <a:avLst>
              <a:gd name="adj" fmla="val 167979"/>
            </a:avLst>
          </a:prstGeom>
          <a:solidFill>
            <a:srgbClr val="4950BC"/>
          </a:solidFill>
          <a:ln/>
        </p:spPr>
      </p:sp>
      <p:sp>
        <p:nvSpPr>
          <p:cNvPr id="24" name="Text 22"/>
          <p:cNvSpPr/>
          <p:nvPr/>
        </p:nvSpPr>
        <p:spPr>
          <a:xfrm>
            <a:off x="3403922" y="2865686"/>
            <a:ext cx="136029" cy="1701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637904" y="3234258"/>
            <a:ext cx="1668066" cy="35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 &amp; Marketing Focus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37904" y="3679329"/>
            <a:ext cx="1668066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Highlight top-rated best-sellers and target high-revenue groups (Young Adults, Express-shipping users).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15098" y="1714798"/>
            <a:ext cx="3937546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produced a clean, reproducible dataset, ten SQL-driven insights, and an interactive Power BI dashboard to enable self-service analysis. All code and artifacts are available in the GitHub repository for reproducibility and knowledge transfer.</a:t>
            </a:r>
            <a:endParaRPr lang="en-US" sz="85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5098" y="2469877"/>
            <a:ext cx="1428750" cy="1428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2026-06-01T14:44:34Z</dcterms:created>
  <dcterms:modified xsi:type="dcterms:W3CDTF">2026-06-01T14:44:34Z</dcterms:modified>
</cp:coreProperties>
</file>